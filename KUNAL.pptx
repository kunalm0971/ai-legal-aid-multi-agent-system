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2868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01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6018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008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8219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6630164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KUNAL MANE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kunalm0971@gmail.com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7378665255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2" y="1470556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6447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1800" b="1" dirty="0"/>
              <a:t>AI‑Legal‑Aid Multi‑Agent System (ALAMS)</a:t>
            </a:r>
            <a:endParaRPr lang="en-IN" sz="18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2CB245F-38CC-32D6-B765-2283940B1190}"/>
              </a:ext>
            </a:extLst>
          </p:cNvPr>
          <p:cNvSpPr txBox="1"/>
          <p:nvPr/>
        </p:nvSpPr>
        <p:spPr>
          <a:xfrm>
            <a:off x="4247535" y="154749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Legal technology (LegalTech) – intelligent assistance for contract review</a:t>
            </a:r>
            <a:endParaRPr lang="en-US" sz="16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547" r="380" b="-367"/>
          <a:stretch/>
        </p:blipFill>
        <p:spPr>
          <a:xfrm>
            <a:off x="4116129" y="3665915"/>
            <a:ext cx="854883" cy="1051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66475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F81E48-E184-8DA7-AB16-3840EAF9F2A9}"/>
              </a:ext>
            </a:extLst>
          </p:cNvPr>
          <p:cNvSpPr txBox="1"/>
          <p:nvPr/>
        </p:nvSpPr>
        <p:spPr>
          <a:xfrm>
            <a:off x="501445" y="1438578"/>
            <a:ext cx="785597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Access to reliable, affordable, and timely legal advice is limited for individuals, freelancers, and small‑business owners.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High cost &amp; long turnaround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for lawyer consultations.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Complex, jargon‑heavy documents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(contracts, policies, notices) that non‑lawyers cannot easily interpret.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Scattered legal information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across statutes, regulations, case law, and guidance notes makes self‑research time‑consuming and error‑prone.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Existing legal‑aid platforms rely on static FAQs or a single‑purpose chatbot, lacking real‑time, multi‑disciplinary analysis and visual </a:t>
            </a:r>
            <a:r>
              <a:rPr lang="en-US" sz="1800" b="0" i="0" dirty="0" err="1">
                <a:solidFill>
                  <a:srgbClr val="161616"/>
                </a:solidFill>
                <a:effectLst/>
                <a:latin typeface="inherit"/>
              </a:rPr>
              <a:t>summarisation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.</a:t>
            </a:r>
          </a:p>
          <a:p>
            <a:pPr algn="l" fontAlgn="auto"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Result – users face hidden risks, non‑compliance penalties, and lost business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1" y="31079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6B9F611D-DDA8-46A6-1DEB-6768F2022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21823"/>
              </p:ext>
            </p:extLst>
          </p:nvPr>
        </p:nvGraphicFramePr>
        <p:xfrm>
          <a:off x="576070" y="1170039"/>
          <a:ext cx="10082098" cy="5475104"/>
        </p:xfrm>
        <a:graphic>
          <a:graphicData uri="http://schemas.openxmlformats.org/drawingml/2006/table">
            <a:tbl>
              <a:tblPr/>
              <a:tblGrid>
                <a:gridCol w="5041049">
                  <a:extLst>
                    <a:ext uri="{9D8B030D-6E8A-4147-A177-3AD203B41FA5}">
                      <a16:colId xmlns:a16="http://schemas.microsoft.com/office/drawing/2014/main" xmlns="" val="560832354"/>
                    </a:ext>
                  </a:extLst>
                </a:gridCol>
                <a:gridCol w="5041049">
                  <a:extLst>
                    <a:ext uri="{9D8B030D-6E8A-4147-A177-3AD203B41FA5}">
                      <a16:colId xmlns:a16="http://schemas.microsoft.com/office/drawing/2014/main" xmlns="" val="2912493406"/>
                    </a:ext>
                  </a:extLst>
                </a:gridCol>
              </a:tblGrid>
              <a:tr h="205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Agent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Core Functions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005A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6196247"/>
                  </a:ext>
                </a:extLst>
              </a:tr>
              <a:tr h="9823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Contract Reviewer Agent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5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Parse uploaded contracts, extract key clauses (payment, liability, termination, IP, data‑privacy), flag risky language, suggest alternative wording.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005A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5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9336739"/>
                  </a:ext>
                </a:extLst>
              </a:tr>
              <a:tr h="11120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Compliance Checker Agent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5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52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Map obligations to relevant statutes/regulations (e.g., GDPR, consumer‑protection, labor law) and return a compliance score + remediation steps.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405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4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73712136"/>
                  </a:ext>
                </a:extLst>
              </a:tr>
              <a:tr h="9823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Q&amp;A RAG Agent</a:t>
                      </a:r>
                      <a:endParaRPr lang="en-US" sz="16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2052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Retrieve pertinent statutes, regulations, and case excerpts from a curated legal corpus and generate concise, plain‑language answers with citations.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A04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5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6361690"/>
                  </a:ext>
                </a:extLst>
              </a:tr>
              <a:tr h="8526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Case Research Agent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5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Perform similarity search on user facts, retrieve matching judgments, summarize holdings, and highlight precedent relevance.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A05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2638949"/>
                  </a:ext>
                </a:extLst>
              </a:tr>
              <a:tr h="124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Conversational Front‑End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205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Empathetic dialogue layer that routes user intents to the appropriate agent, presents results, and always displays a disclaimer that the output is informational only.</a:t>
                      </a:r>
                    </a:p>
                  </a:txBody>
                  <a:tcPr marL="60018" marR="60018" marT="30009" marB="30009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04C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5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0057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18246" y="39614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E3AE9593-E84D-06A3-D7BA-4965E16A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39694"/>
              </p:ext>
            </p:extLst>
          </p:nvPr>
        </p:nvGraphicFramePr>
        <p:xfrm>
          <a:off x="845574" y="1111045"/>
          <a:ext cx="9527458" cy="5540634"/>
        </p:xfrm>
        <a:graphic>
          <a:graphicData uri="http://schemas.openxmlformats.org/drawingml/2006/table">
            <a:tbl>
              <a:tblPr/>
              <a:tblGrid>
                <a:gridCol w="4763729">
                  <a:extLst>
                    <a:ext uri="{9D8B030D-6E8A-4147-A177-3AD203B41FA5}">
                      <a16:colId xmlns:a16="http://schemas.microsoft.com/office/drawing/2014/main" xmlns="" val="815623039"/>
                    </a:ext>
                  </a:extLst>
                </a:gridCol>
                <a:gridCol w="4763729">
                  <a:extLst>
                    <a:ext uri="{9D8B030D-6E8A-4147-A177-3AD203B41FA5}">
                      <a16:colId xmlns:a16="http://schemas.microsoft.com/office/drawing/2014/main" xmlns="" val="2650261685"/>
                    </a:ext>
                  </a:extLst>
                </a:gridCol>
              </a:tblGrid>
              <a:tr h="202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Layer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102D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Tools / Libraries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D02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37260358"/>
                  </a:ext>
                </a:extLst>
              </a:tr>
              <a:tr h="950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Data Ingestion &amp; Indexing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102D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Python, LangChain loaders, PDF/DOCX parsers, Apache Tika, OCR (Tesseract) for scanned docs, Elasticsearch / Milvus vector store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D02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35806508"/>
                  </a:ext>
                </a:extLst>
              </a:tr>
              <a:tr h="8251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Retrieval‑Augmented Generation</a:t>
                      </a:r>
                      <a:endParaRPr lang="en-US" sz="16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OpenAI GPT‑4‑turbo (or Anthropic Claude), Retrieval‑augmented pipelines from LangChain, hybrid BM25 + dense vector search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2A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3681829"/>
                  </a:ext>
                </a:extLst>
              </a:tr>
              <a:tr h="4484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LLM Prompt Engineering &amp; Agent Orchestration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F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29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LangChain Agents, ReAct pattern, tool‑calling APIs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D02A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30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60245155"/>
                  </a:ext>
                </a:extLst>
              </a:tr>
              <a:tr h="8251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Document Parsing &amp; NER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5029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spaCy / HuggingFace legal‑specific models (LegalBERT, ContractNLI), custom rule‑based clause extractors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D030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29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3978742"/>
                  </a:ext>
                </a:extLst>
              </a:tr>
              <a:tr h="4484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Backend &amp; API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F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2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FastAPI, Docker, Kubernetes (optional for scaling)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5029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0751204"/>
                  </a:ext>
                </a:extLst>
              </a:tr>
              <a:tr h="699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Front‑End Dashboard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D02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2D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React + TypeScript, Ant Design / Material‑UI, Plotly for compliance heat‑maps, PDF.js for document preview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F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72828883"/>
                  </a:ext>
                </a:extLst>
              </a:tr>
              <a:tr h="950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Security &amp; Privacy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102D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2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OAuth2 / OpenID Connect, end‑to‑end encryption (TLS), data‑at‑rest encryption, optional on‑premise deployment for sensitive contracts</a:t>
                      </a:r>
                    </a:p>
                  </a:txBody>
                  <a:tcPr marL="58407" marR="58407" marT="29204" marB="29204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9028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29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84023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F43A081-8D3B-38DF-14AA-3B39F7C98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474050"/>
              </p:ext>
            </p:extLst>
          </p:nvPr>
        </p:nvGraphicFramePr>
        <p:xfrm>
          <a:off x="609599" y="1140542"/>
          <a:ext cx="10038736" cy="5363999"/>
        </p:xfrm>
        <a:graphic>
          <a:graphicData uri="http://schemas.openxmlformats.org/drawingml/2006/table">
            <a:tbl>
              <a:tblPr/>
              <a:tblGrid>
                <a:gridCol w="5019368">
                  <a:extLst>
                    <a:ext uri="{9D8B030D-6E8A-4147-A177-3AD203B41FA5}">
                      <a16:colId xmlns:a16="http://schemas.microsoft.com/office/drawing/2014/main" xmlns="" val="1131278972"/>
                    </a:ext>
                  </a:extLst>
                </a:gridCol>
                <a:gridCol w="5019368">
                  <a:extLst>
                    <a:ext uri="{9D8B030D-6E8A-4147-A177-3AD203B41FA5}">
                      <a16:colId xmlns:a16="http://schemas.microsoft.com/office/drawing/2014/main" xmlns="" val="958936861"/>
                    </a:ext>
                  </a:extLst>
                </a:gridCol>
              </a:tblGrid>
              <a:tr h="2134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Component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4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Purpose in the Pipeline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8089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1468272"/>
                  </a:ext>
                </a:extLst>
              </a:tr>
              <a:tr h="3493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Document Loader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4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8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Ingest PDFs, DOCX, images → raw text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89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9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33914107"/>
                  </a:ext>
                </a:extLst>
              </a:tr>
              <a:tr h="48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Text Splitter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8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9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Chunk contracts / statutes into 1‑2 k token windows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A09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1878656"/>
                  </a:ext>
                </a:extLst>
              </a:tr>
              <a:tr h="756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Embedding Model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409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9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>
                          <a:solidFill>
                            <a:srgbClr val="161616"/>
                          </a:solidFill>
                          <a:effectLst/>
                          <a:latin typeface="IBM Plex Mono" panose="020B0509050203000203" pitchFamily="49" charset="0"/>
                        </a:rPr>
                        <a:t>sentence‑transformers/all‑mpnet‑base‑v2</a:t>
                      </a: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 (or OpenAI embeddings) to populate vector store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A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8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39388227"/>
                  </a:ext>
                </a:extLst>
              </a:tr>
              <a:tr h="3493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Vector Store</a:t>
                      </a:r>
                      <a:endParaRPr lang="en-US" sz="16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009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Milvus / FAISS node for fast similarity search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208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7565260"/>
                  </a:ext>
                </a:extLst>
              </a:tr>
              <a:tr h="48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Retriever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9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Hybrid (BM25 + vector) to fetch top‑k relevant passages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60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1950709"/>
                  </a:ext>
                </a:extLst>
              </a:tr>
              <a:tr h="48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RAG Prompt Builder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9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A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Assemble retrieved snippets with user query for LLM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9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9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78975641"/>
                  </a:ext>
                </a:extLst>
              </a:tr>
              <a:tr h="3493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LLM Node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00A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Call GPT‑4‑turbo (or Claude) for generation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209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8238854"/>
                  </a:ext>
                </a:extLst>
              </a:tr>
              <a:tr h="756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Agent Router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409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Determines which specialized agent (Contract, Compliance, Q&amp;A, Case) should handle the request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60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15836209"/>
                  </a:ext>
                </a:extLst>
              </a:tr>
              <a:tr h="3493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Output Formatter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9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8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JSON → dashboard UI, PDF report generator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9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8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38701154"/>
                  </a:ext>
                </a:extLst>
              </a:tr>
              <a:tr h="621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Feedback Loop</a:t>
                      </a:r>
                      <a:endParaRPr lang="en-US" sz="16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8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8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Capture user corrections → fine‑tune retrieval weights or prompt templates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208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9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1896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workflow -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88B4BFB-9C01-00DF-491B-8D43FC727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6" y="1239684"/>
            <a:ext cx="10677832" cy="491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53" y="898329"/>
            <a:ext cx="10058400" cy="5423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pic>
        <p:nvPicPr>
          <p:cNvPr id="6" name="Picture 5" descr="A robot with headphones on and a neon sign that says ...">
            <a:extLst>
              <a:ext uri="{FF2B5EF4-FFF2-40B4-BE49-F238E27FC236}">
                <a16:creationId xmlns:a16="http://schemas.microsoft.com/office/drawing/2014/main" xmlns="" id="{15B02009-C583-6AF8-149F-C94B08E8C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912" y="855406"/>
            <a:ext cx="2943600" cy="5147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115D37F-52D7-1D5B-ECA1-8607092FBE9C}"/>
              </a:ext>
            </a:extLst>
          </p:cNvPr>
          <p:cNvSpPr txBox="1"/>
          <p:nvPr/>
        </p:nvSpPr>
        <p:spPr>
          <a:xfrm>
            <a:off x="475488" y="1172691"/>
            <a:ext cx="769511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Autonomous Task Decomposition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– Each agent decides which sub‑tools (e.g., clause extractor, regulator lookup) to invoke, following the </a:t>
            </a:r>
            <a:r>
              <a:rPr lang="en-US" sz="1800" b="0" i="0" dirty="0" err="1">
                <a:solidFill>
                  <a:srgbClr val="161616"/>
                </a:solidFill>
                <a:effectLst/>
                <a:latin typeface="inherit"/>
              </a:rPr>
              <a:t>ReAct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 (Reason‑Act) loop.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Dynamic Tool‑Calling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– The Conversational Front‑End can request the Contract Reviewer, Compliance Checker, or Case Research agent on‑the‑fly based on user intent.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Self‑Improvement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– Agents log “confidence scores” and user feedback; a meta‑agent periodically re‑weights retrieval strategies and updates prompt templates.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 err="1">
                <a:solidFill>
                  <a:srgbClr val="161616"/>
                </a:solidFill>
                <a:effectLst/>
                <a:latin typeface="inherit"/>
              </a:rPr>
              <a:t>Specialised</a:t>
            </a: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 Knowledge Encapsulation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– Legal domain expertise is encapsulated in distinct agents, keeping prompts concise and avoiding “one‑model‑fits‑all” pitfalls.</a:t>
            </a:r>
          </a:p>
          <a:p>
            <a:pPr algn="l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61616"/>
                </a:solidFill>
                <a:effectLst/>
                <a:latin typeface="inherit"/>
              </a:rPr>
              <a:t>Safety Guardrails</a:t>
            </a:r>
            <a:r>
              <a:rPr lang="en-US" sz="1800" b="0" i="0" dirty="0">
                <a:solidFill>
                  <a:srgbClr val="161616"/>
                </a:solidFill>
                <a:effectLst/>
                <a:latin typeface="inherit"/>
              </a:rPr>
              <a:t> – An Ethics/Disclaimer agent intercepts any response that may cross the advice‑boundary and injects the required legal disclaimer.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AD7EE9B5-D775-9D7E-6C35-880EF64A6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566742"/>
              </p:ext>
            </p:extLst>
          </p:nvPr>
        </p:nvGraphicFramePr>
        <p:xfrm>
          <a:off x="777239" y="1229033"/>
          <a:ext cx="9625290" cy="5658372"/>
        </p:xfrm>
        <a:graphic>
          <a:graphicData uri="http://schemas.openxmlformats.org/drawingml/2006/table">
            <a:tbl>
              <a:tblPr/>
              <a:tblGrid>
                <a:gridCol w="4812645">
                  <a:extLst>
                    <a:ext uri="{9D8B030D-6E8A-4147-A177-3AD203B41FA5}">
                      <a16:colId xmlns:a16="http://schemas.microsoft.com/office/drawing/2014/main" xmlns="" val="485176104"/>
                    </a:ext>
                  </a:extLst>
                </a:gridCol>
                <a:gridCol w="4812645">
                  <a:extLst>
                    <a:ext uri="{9D8B030D-6E8A-4147-A177-3AD203B41FA5}">
                      <a16:colId xmlns:a16="http://schemas.microsoft.com/office/drawing/2014/main" xmlns="" val="1721270576"/>
                    </a:ext>
                  </a:extLst>
                </a:gridCol>
              </a:tblGrid>
              <a:tr h="2072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Aspect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00B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What Makes It Distinct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E0B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0602612"/>
                  </a:ext>
                </a:extLst>
              </a:tr>
              <a:tr h="9987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Multi‑Agent Architecture</a:t>
                      </a:r>
                      <a:endParaRPr lang="en-US" sz="18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00B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Combines contract analysis, compliance checking, statutory Q&amp;A, and case research in one coherent platform rather than isolated tools.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0B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C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73144812"/>
                  </a:ext>
                </a:extLst>
              </a:tr>
              <a:tr h="866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Hybrid Retrieval + Generation</a:t>
                      </a:r>
                      <a:endParaRPr lang="en-US" sz="18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D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Uses both dense vector similarity and classic keyword BM25 to maximise recall of niche statutes and obscure case law.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A0C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68045449"/>
                  </a:ext>
                </a:extLst>
              </a:tr>
              <a:tr h="866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Clause‑Level Risk Scoring</a:t>
                      </a:r>
                      <a:endParaRPr lang="en-US" sz="18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60D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Automatic risk taxonomy (high/medium/low) with visual highlights – rare in generic legal chatbots.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5889153"/>
                  </a:ext>
                </a:extLst>
              </a:tr>
              <a:tr h="734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Regulatory Mapping Layer</a:t>
                      </a:r>
                      <a:endParaRPr lang="en-US" sz="18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Direct linkage of contract obligations to specific legal provisions (e.g., GDPR Art. 5) and a compliance heat‑map.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24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5135286"/>
                  </a:ext>
                </a:extLst>
              </a:tr>
              <a:tr h="6029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Langflow‑Driven Prototyping</a:t>
                      </a:r>
                      <a:endParaRPr lang="en-US" sz="18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B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C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Full end‑to‑end pipeline built visually, enabling rapid iteration and easy hand‑off to dev‑ops.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24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80C8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8595028"/>
                  </a:ext>
                </a:extLst>
              </a:tr>
              <a:tr h="866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Privacy‑First Deployment Options</a:t>
                      </a:r>
                      <a:endParaRPr lang="en-US" sz="18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C0C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C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effectLst/>
                          <a:latin typeface="inherit"/>
                        </a:rPr>
                        <a:t>Supports on‑premise or private‑cloud vector stores, allowing firms with strict data‑security policies to adopt the system.</a:t>
                      </a:r>
                    </a:p>
                  </a:txBody>
                  <a:tcPr marL="63756" marR="63756" marT="31878" marB="31878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80C8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C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539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Files Uploaded on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latin typeface="Times New Roman"/>
                <a:ea typeface="Times New Roman"/>
                <a:cs typeface="Times New Roman"/>
              </a:rPr>
              <a:t/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file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1" dirty="0" smtClean="0"/>
              <a:t> </a:t>
            </a:r>
            <a:r>
              <a:rPr lang="en-US" sz="1600" dirty="0"/>
              <a:t>AI‑Legal‑Aid Multi‑Agent </a:t>
            </a:r>
            <a:r>
              <a:rPr lang="en-US" sz="1600" dirty="0" smtClean="0"/>
              <a:t>System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.pptx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)any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files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34380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78AADD3-F351-F96A-9F9F-AAF18B1BEEDD}"/>
              </a:ext>
            </a:extLst>
          </p:cNvPr>
          <p:cNvSpPr txBox="1"/>
          <p:nvPr/>
        </p:nvSpPr>
        <p:spPr>
          <a:xfrm>
            <a:off x="1042219" y="1320199"/>
            <a:ext cx="880970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Jurisdiction Expansion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Incorporate multi‑jurisdictional corpora (US, EU, UK, AU, India) with automatic jurisdiction detection.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Fine‑Tuned Legal LLMs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Deploy open‑source models such as Llama‑2‑Legal or Juris‑BERT for cost‑effective generation while preserving domain accuracy.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Negotiation Assistant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Add a bargaining agent that suggests counter‑offers and simulates negotiation scenarios.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Integration with E‑Signatures &amp; Contract Management Systems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(</a:t>
            </a:r>
            <a:r>
              <a:rPr lang="en-US" sz="1600" b="0" i="0" dirty="0" err="1">
                <a:solidFill>
                  <a:srgbClr val="161616"/>
                </a:solidFill>
                <a:effectLst/>
                <a:latin typeface="inherit"/>
              </a:rPr>
              <a:t>DocuSign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, Microsoft SharePoint) for end‑to‑end workflow.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Continuous Learning Loop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Use </a:t>
            </a:r>
            <a:r>
              <a:rPr lang="en-US" sz="1600" b="0" i="0" dirty="0" err="1">
                <a:solidFill>
                  <a:srgbClr val="161616"/>
                </a:solidFill>
                <a:effectLst/>
                <a:latin typeface="inherit"/>
              </a:rPr>
              <a:t>anonymised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 user corrections to semi‑automatically retrain clause‑extraction models and update the vector store.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Regulatory Alerts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Subscribe to official gazettes/APIs to push real‑time compliance alerts (e.g., new data‑privacy rules).</a:t>
            </a:r>
          </a:p>
          <a:p>
            <a:pPr algn="l" fontAlgn="auto">
              <a:spcAft>
                <a:spcPts val="600"/>
              </a:spcAft>
              <a:buFont typeface="+mj-lt"/>
              <a:buAutoNum type="arabicPeriod"/>
            </a:pPr>
            <a:r>
              <a:rPr lang="en-US" sz="1600" b="1" i="0" dirty="0">
                <a:solidFill>
                  <a:srgbClr val="161616"/>
                </a:solidFill>
                <a:effectLst/>
                <a:latin typeface="inherit"/>
              </a:rPr>
              <a:t>Accessibility Features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inherit"/>
              </a:rPr>
              <a:t> – Voice‑interface and multi‑language support (English, Spanish, Mandarin) to reach broader user bases.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6969" r="797" b="28607"/>
          <a:stretch/>
        </p:blipFill>
        <p:spPr>
          <a:xfrm>
            <a:off x="2460567" y="1431304"/>
            <a:ext cx="6616931" cy="510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" t="5975" r="453" b="1257"/>
          <a:stretch/>
        </p:blipFill>
        <p:spPr>
          <a:xfrm>
            <a:off x="2141270" y="1346663"/>
            <a:ext cx="8262852" cy="507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662</Words>
  <Application>Microsoft Office PowerPoint</Application>
  <PresentationFormat>Widescreen</PresentationFormat>
  <Paragraphs>117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IBM Plex Mono</vt:lpstr>
      <vt:lpstr>IBM Plex Sans</vt:lpstr>
      <vt:lpstr>inherit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User</cp:lastModifiedBy>
  <cp:revision>21</cp:revision>
  <dcterms:created xsi:type="dcterms:W3CDTF">2025-07-08T05:06:56Z</dcterms:created>
  <dcterms:modified xsi:type="dcterms:W3CDTF">2026-06-29T06:35:26Z</dcterms:modified>
</cp:coreProperties>
</file>